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C9B0"/>
                </a:solidFill>
                <a:latin typeface="Consolas"/>
              </a:defRPr>
            </a:pPr>
            <a:r>
              <a:t>High Heels for Haiku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onsolas"/>
              </a:defRPr>
            </a:pPr>
            <a:r>
              <a:t>When does code representation help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onsolas"/>
              </a:defRPr>
            </a:pPr>
            <a:r>
              <a:t>reason about molecules?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B8B"/>
                </a:solidFill>
                <a:latin typeface="Consolas"/>
              </a:defRPr>
            </a:pPr>
            <a:r>
              <a:t>smiles-js-eval  ·  15 qualitative probes  ·  Haiku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B8B"/>
                </a:solidFill>
                <a:latin typeface="Consolas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onsolas"/>
              </a:defRPr>
            </a:pPr>
            <a:r>
              <a:t>Can we help LLMs reason about chemistry by converting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FFDD57"/>
                </a:solidFill>
                <a:latin typeface="Consolas"/>
              </a:defRPr>
            </a:pPr>
            <a:r>
              <a:t>SMILES strings into composable JavaScript code?</a:t>
            </a:r>
          </a:p>
          <a:p>
            <a:pPr algn="l">
              <a:spcBef>
                <a:spcPts val="0"/>
              </a:spcBef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16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SMILES (string):</a:t>
            </a:r>
          </a:p>
          <a:p>
            <a:pPr algn="l">
              <a:spcBef>
                <a:spcPts val="0"/>
              </a:spcBef>
              <a:defRPr sz="1800" b="0">
                <a:solidFill>
                  <a:srgbClr val="FF5555"/>
                </a:solidFill>
                <a:latin typeface="Consolas"/>
              </a:defRPr>
            </a:pPr>
            <a:r>
              <a:t>  CNc1ncnc2c1ncn2Cc1ccccc1</a:t>
            </a:r>
          </a:p>
          <a:p>
            <a:pPr algn="l">
              <a:spcBef>
                <a:spcPts val="0"/>
              </a:spcBef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smiles-js Code (tree):</a:t>
            </a:r>
          </a:p>
          <a:p>
            <a:pPr algn="l">
              <a:spcBef>
                <a:spcPts val="0"/>
              </a:spcBef>
              <a:defRPr sz="1800" b="0">
                <a:solidFill>
                  <a:srgbClr val="55FF88"/>
                </a:solidFill>
                <a:latin typeface="Consolas"/>
              </a:defRPr>
            </a:pPr>
            <a:r>
              <a:t>  pyrimidine = Fragment('c1ncncc1')</a:t>
            </a:r>
          </a:p>
          <a:p>
            <a:pPr algn="l">
              <a:spcBef>
                <a:spcPts val="0"/>
              </a:spcBef>
              <a:defRPr sz="1800" b="0">
                <a:solidFill>
                  <a:srgbClr val="55FF88"/>
                </a:solidFill>
                <a:latin typeface="Consolas"/>
              </a:defRPr>
            </a:pPr>
            <a:r>
              <a:t>  imidazole  = Fragment('c2cncn2')</a:t>
            </a:r>
          </a:p>
          <a:p>
            <a:pPr algn="l">
              <a:spcBef>
                <a:spcPts val="0"/>
              </a:spcBef>
              <a:defRPr sz="1800" b="0">
                <a:solidFill>
                  <a:srgbClr val="55FF88"/>
                </a:solidFill>
                <a:latin typeface="Consolas"/>
              </a:defRPr>
            </a:pPr>
            <a:r>
              <a:t>  purine     = pyrimidine.fuse(4, imidazole)</a:t>
            </a:r>
          </a:p>
          <a:p>
            <a:pPr algn="l">
              <a:spcBef>
                <a:spcPts val="0"/>
              </a:spcBef>
              <a:defRPr sz="1800" b="0">
                <a:solidFill>
                  <a:srgbClr val="55FF88"/>
                </a:solidFill>
                <a:latin typeface="Consolas"/>
              </a:defRPr>
            </a:pPr>
            <a:r>
              <a:t>  benzene    = Fragment('c1ccccc1')</a:t>
            </a:r>
          </a:p>
          <a:p>
            <a:pPr algn="l">
              <a:spcBef>
                <a:spcPts val="0"/>
              </a:spcBef>
              <a:defRPr sz="1800" b="0">
                <a:solidFill>
                  <a:srgbClr val="55FF88"/>
                </a:solidFill>
                <a:latin typeface="Consolas"/>
              </a:defRPr>
            </a:pPr>
            <a:r>
              <a:t>  molecule   = Molecule([purine, benzene])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50"/>
                </a:solidFill>
                <a:latin typeface="Consolas"/>
              </a:defRPr>
            </a:pPr>
            <a:r>
              <a:t>Method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• Same molecule, same question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• Give Haiku the SMILES string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• Give Haiku the smiles-js code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• Compare answers against ground truth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• 15 probes × 6 task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050"/>
                </a:solidFill>
                <a:latin typeface="Consolas"/>
              </a:defRPr>
            </a:pPr>
            <a:r>
              <a:t>Task Types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1. Aromatic ring counting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2. Scaffold recognition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3. Functional group detection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4. H-bond donor/acceptor counting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5. Stereocenter counting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6. Ring size discrimination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C9B0"/>
                </a:solidFill>
                <a:latin typeface="Consolas"/>
              </a:defRPr>
            </a:pPr>
            <a:r>
              <a:t>Scorecard: Code Wins 7 – SMILES Wins 4 – Tie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3543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Molecule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Truth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Purine + 2 benzenes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Benzodifuran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Coumarin-furan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Purine + benzene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+ relabel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Same as #4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Scaffold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Diaminoquinazoline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quinazoline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benzimidazole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quinazoline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Func groups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4-group molecule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 groups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4/4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3/4 + 2 FP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Mol ID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Ergot alkaloid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bromocriptine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indinavir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indinavir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 arom / 2 non-arom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Scaffold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Bis-indolyl uracil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bis-indolyl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indazolo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bis-indolyl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Stereocenters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Beta-lactam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hallucinated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H-bond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Pentapeptide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hbd=7 hba=6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hbd=12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7,6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Scaffold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Imidazole hub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imidazole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✓ (rambling)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✓ (crisp)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Amide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Pentapeptide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 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3 ✗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size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Mixed 5/6-mem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4 rings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Pattern 1: Fused Ring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050"/>
                </a:solidFill>
                <a:latin typeface="Consolas"/>
              </a:defRPr>
            </a:pPr>
            <a:r>
              <a:t>Code wins 4/5 hard cases  vs  SMILES wins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Consolas"/>
              </a:defRPr>
            </a:pPr>
            <a:r>
              <a:t>The Problem with SMILES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SMILES compresses fused rings: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5555"/>
                </a:solidFill>
                <a:latin typeface="Consolas"/>
              </a:defRPr>
            </a:pPr>
            <a:r>
              <a:t>  c1c2ccoc2cc2ccc(=O)oc12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Ring closure digits (c1...c12) are</a:t>
            </a:r>
          </a:p>
          <a:p>
            <a:pPr algn="l">
              <a:spcBef>
                <a:spcPts val="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nested and hard to parse.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DD57"/>
                </a:solidFill>
                <a:latin typeface="Consolas"/>
              </a:defRPr>
            </a:pPr>
            <a:r>
              <a:t>Haiku sees 2 rings. Truth: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5FF88"/>
                </a:solidFill>
                <a:latin typeface="Consolas"/>
              </a:defRPr>
            </a:pPr>
            <a:r>
              <a:t>How Code Helps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Code enumerates each ring: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  ring1 = Fragment('c1cccoc1')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  ring2 = Fragment('c2occc2')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  ring3 = Fragment('c2cccoc2')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  FusedRing([ring1, ring2, ring3])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DD57"/>
                </a:solidFill>
                <a:latin typeface="Consolas"/>
              </a:defRPr>
            </a:pPr>
            <a:r>
              <a:t>3 Fragments in FusedRing = 3 rings.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Counting nodes in a tree is easy.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Pattern 2: Scaffold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050"/>
                </a:solidFill>
                <a:latin typeface="Consolas"/>
              </a:defRPr>
            </a:pPr>
            <a:r>
              <a:t>Code correctly names scaffolds that SMILES obscures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Consolas"/>
              </a:defRPr>
            </a:pPr>
            <a:r>
              <a:t>SMILES → Wrong Answer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500" b="0">
                <a:solidFill>
                  <a:srgbClr val="FF5555"/>
                </a:solidFill>
                <a:latin typeface="Consolas"/>
              </a:defRPr>
            </a:pPr>
            <a:r>
              <a:t>Nc1nc(N)c2c(...)cccc2n1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Haiku says: "benzimidazole"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DD57"/>
                </a:solidFill>
                <a:latin typeface="Consolas"/>
              </a:defRPr>
            </a:pPr>
            <a:r>
              <a:t>Truth: quinazoline</a:t>
            </a:r>
          </a:p>
          <a:p>
            <a:pPr algn="l">
              <a:spcBef>
                <a:spcPts val="0"/>
              </a:spcBef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The fused ring looks like one blob.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Haiku can't tell pyrimidine+benzene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from imidazole+benzene.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5FF88"/>
                </a:solidFill>
                <a:latin typeface="Consolas"/>
              </a:defRPr>
            </a:pPr>
            <a:r>
              <a:t>Code → Correct Answer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500" b="0">
                <a:solidFill>
                  <a:srgbClr val="55FF88"/>
                </a:solidFill>
                <a:latin typeface="Consolas"/>
              </a:defRPr>
            </a:pPr>
            <a:r>
              <a:t>diaminopyrimidine = Fragment(...)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55FF88"/>
                </a:solidFill>
                <a:latin typeface="Consolas"/>
              </a:defRPr>
            </a:pPr>
            <a:r>
              <a:t>benzene = Fragment('c1ccccc1')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55FF88"/>
                </a:solidFill>
                <a:latin typeface="Consolas"/>
              </a:defRPr>
            </a:pPr>
            <a:r>
              <a:t>core = diaminopyrimidine.fuse(benzene)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Haiku says: "quinazoline" ✓</a:t>
            </a:r>
          </a:p>
          <a:p>
            <a:pPr algn="l">
              <a:spcBef>
                <a:spcPts val="0"/>
              </a:spcBef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pyrimidine.fuse(benzene) is the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textbook definition of quinazoline.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Code makes the recipe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Pattern 3: Counting in Long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050"/>
                </a:solidFill>
                <a:latin typeface="Consolas"/>
              </a:defRPr>
            </a:pPr>
            <a:r>
              <a:t>Peptide H-bond counting: Code nails it, SMILES overcounts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Consolas"/>
              </a:defRPr>
            </a:pPr>
            <a:r>
              <a:t>SMILES: Wall of Text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FF5555"/>
                </a:solidFill>
                <a:latin typeface="Consolas"/>
              </a:defRPr>
            </a:pPr>
            <a:r>
              <a:t>Cc1cccc(NC(=O)N[C@@H](Cc2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5555"/>
                </a:solidFill>
                <a:latin typeface="Consolas"/>
              </a:defRPr>
            </a:pPr>
            <a:r>
              <a:t>ccccc2)C(=O)N[C@H](CC(C)C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FF5555"/>
                </a:solidFill>
                <a:latin typeface="Consolas"/>
              </a:defRPr>
            </a:pPr>
            <a:r>
              <a:t>)C(=O)N[C@@H](...) ...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Haiku says: hbd = 12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DD57"/>
                </a:solidFill>
                <a:latin typeface="Consolas"/>
              </a:defRPr>
            </a:pPr>
            <a:r>
              <a:t>Truth:      hbd = 7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Double-counted NH donors in the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repetitive peptide backbone.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5FF88"/>
                </a:solidFill>
                <a:latin typeface="Consolas"/>
              </a:defRPr>
            </a:pPr>
            <a:r>
              <a:t>Code: Structured Decomposition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backbone = Fragment('NCN...NCN...')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carbonyl1 = Linear(['O'], ['='])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carbonyl2 = Linear(['O'], ['='])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5FF88"/>
                </a:solidFill>
                <a:latin typeface="Consolas"/>
              </a:defRPr>
            </a:pPr>
            <a:r>
              <a:t>...6 carbonyls total...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Haiku says: hbd = 7, hba = 6  ✓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Each carbonyl is a discrete countable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node. No double-counting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When SMILES Wins (4 cases)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Consolas"/>
              </a:defRPr>
            </a:pPr>
            <a:r>
              <a:t>Pattern A: Functional Groups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SMILES keeps groups inline: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FDD57"/>
                </a:solidFill>
                <a:latin typeface="Consolas"/>
              </a:defRPr>
            </a:pPr>
            <a:r>
              <a:t>  C(=O)N  → amide  (obvious)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FDD57"/>
                </a:solidFill>
                <a:latin typeface="Consolas"/>
              </a:defRPr>
            </a:pPr>
            <a:r>
              <a:t>  C(=O)O  → carboxyl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FDD57"/>
                </a:solidFill>
                <a:latin typeface="Consolas"/>
              </a:defRPr>
            </a:pPr>
            <a:r>
              <a:t>  [N+](=O)[O-] → nitro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Code splits these across fragments: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F5555"/>
                </a:solidFill>
                <a:latin typeface="Consolas"/>
              </a:defRPr>
            </a:pPr>
            <a:r>
              <a:t>  Fragment('NC') → looks like methylamine</a:t>
            </a:r>
          </a:p>
          <a:p>
            <a:pPr algn="l">
              <a:spcBef>
                <a:spcPts val="200"/>
              </a:spcBef>
              <a:defRPr sz="1500" b="0">
                <a:solidFill>
                  <a:srgbClr val="FF5555"/>
                </a:solidFill>
                <a:latin typeface="Consolas"/>
              </a:defRPr>
            </a:pPr>
            <a:r>
              <a:t>  Linear(['O'],['=']) → could be anything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→ Code hallucinated amine, 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Consolas"/>
              </a:defRPr>
            </a:pPr>
            <a:r>
              <a:t>Pattern B: Atom-Level Annotations</a:t>
            </a:r>
          </a:p>
          <a:p>
            <a:pPr algn="l">
              <a:spcBef>
                <a:spcPts val="0"/>
              </a:spcBef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Stereocenters: [C@H], [C@@H]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These are SMILES annotations.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Code fragments still contain the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same [C@H] notation internally.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8B8B8B"/>
                </a:solidFill>
                <a:latin typeface="Consolas"/>
              </a:defRPr>
            </a:pPr>
            <a:r>
              <a:t>No structural advantage.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55FF88"/>
                </a:solidFill>
                <a:latin typeface="Consolas"/>
              </a:defRPr>
            </a:pPr>
            <a:r>
              <a:t>SMILES: counted 3 stereocenters ✓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5555"/>
                </a:solidFill>
                <a:latin typeface="Consolas"/>
              </a:defRPr>
            </a:pPr>
            <a:r>
              <a:t>Code:   hallucinated 1425 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The Fundamental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D57"/>
                </a:solidFill>
                <a:latin typeface="Consolas"/>
              </a:defRPr>
            </a:pPr>
            <a:r>
              <a:t>Code is a tree decomposition of a string.</a:t>
            </a:r>
          </a:p>
          <a:p>
            <a:pPr algn="l">
              <a:spcBef>
                <a:spcPts val="0"/>
              </a:spcBef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55FF88"/>
                </a:solidFill>
                <a:latin typeface="Consolas"/>
              </a:defRPr>
            </a:pPr>
            <a:r>
              <a:t>Trees are better for counting nodes.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8B8B8B"/>
                </a:solidFill>
                <a:latin typeface="Consolas"/>
              </a:defRPr>
            </a:pPr>
            <a:r>
              <a:t>(rings, repeating units, building blocks)</a:t>
            </a:r>
          </a:p>
          <a:p>
            <a:pPr algn="l">
              <a:spcBef>
                <a:spcPts val="0"/>
              </a:spcBef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5555"/>
                </a:solidFill>
                <a:latin typeface="Consolas"/>
              </a:defRPr>
            </a:pPr>
            <a:r>
              <a:t>Strings are better for pattern matching.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8B8B8B"/>
                </a:solidFill>
                <a:latin typeface="Consolas"/>
              </a:defRPr>
            </a:pPr>
            <a:r>
              <a:t>(functional groups, stereocenters, bond patterns)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C9B0"/>
                </a:solidFill>
                <a:latin typeface="Consolas"/>
              </a:defRPr>
            </a:pPr>
            <a:r>
              <a:t>Earlier: Sonnet 4.5 Batch Results (n=100)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B8B"/>
                </a:solidFill>
                <a:latin typeface="Consolas"/>
              </a:defRPr>
            </a:pPr>
            <a:r>
              <a:t>Quantitative baseline before the qualitative probing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Code+Relabel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4EC9B0"/>
                          </a:solidFill>
                          <a:latin typeface="Consolas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A1E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Ring 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BBBP (bal. acc)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Code+Relabel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 Repair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SMILES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050"/>
                </a:solidFill>
                <a:latin typeface="Consolas"/>
              </a:defRPr>
            </a:pPr>
            <a:r>
              <a:t>Key takeaway from batch run:</a:t>
            </a:r>
          </a:p>
          <a:p>
            <a:pPr algn="l">
              <a:spcBef>
                <a:spcPts val="0"/>
              </a:spcBef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8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SMILES won 2/3 tasks. Hypothesis not broadly supported.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FFFF"/>
                </a:solidFill>
                <a:latin typeface="Consolas"/>
              </a:defRPr>
            </a:pPr>
            <a:r>
              <a:t>But this hid the nuance: code helps on specific sub-problems.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FFDD57"/>
                </a:solidFill>
                <a:latin typeface="Consolas"/>
              </a:defRPr>
            </a:pPr>
            <a:r>
              <a:t>The qualitative probing found where those sub-problems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onsolas"/>
              </a:defRPr>
            </a:pPr>
            <a:r>
              <a:t>Implications for smiles-js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5FF88"/>
                </a:solidFill>
                <a:latin typeface="Consolas"/>
              </a:defRPr>
            </a:pPr>
            <a:r>
              <a:t>1. FusedRing() is the killer feature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Primary driver of code advantage — explicitly enumerates rings</a:t>
            </a:r>
          </a:p>
          <a:p>
            <a:pPr algn="l">
              <a:spcBef>
                <a:spcPts val="0"/>
              </a:spcBef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FFDD57"/>
                </a:solidFill>
                <a:latin typeface="Consolas"/>
              </a:defRPr>
            </a:pPr>
            <a:r>
              <a:t>2. Fragment granularity matters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Splitting C(=O)O → Fragment('CO') + Linear(['O'],['='])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destroys the carboxyl pattern. Preserve functional group boundaries.</a:t>
            </a:r>
          </a:p>
          <a:p>
            <a:pPr algn="l">
              <a:spcBef>
                <a:spcPts val="0"/>
              </a:spcBef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5599FF"/>
                </a:solidFill>
                <a:latin typeface="Consolas"/>
              </a:defRPr>
            </a:pPr>
            <a:r>
              <a:t>3. Code+Relabel is underrated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Forcing semantic naming (pyrimidineRing, benzeneRing) before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reasoning fixed code's overcounting problem. Worth testing at scale.</a:t>
            </a:r>
          </a:p>
          <a:p>
            <a:pPr algn="l">
              <a:spcBef>
                <a:spcPts val="0"/>
              </a:spcBef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Bef>
                <a:spcPts val="1200"/>
              </a:spcBef>
              <a:defRPr sz="2200" b="1">
                <a:solidFill>
                  <a:srgbClr val="4EC9B0"/>
                </a:solidFill>
                <a:latin typeface="Consolas"/>
              </a:defRPr>
            </a:pPr>
            <a:r>
              <a:t>4. Best of both worlds?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Hybrid: SMILES for atom-level patterns + code tree for topology.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Or: larger fragments that preserve functional groups.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Consolas"/>
              </a:defRPr>
            </a:pPr>
            <a:r>
              <a:t>"High Heels"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onsolas"/>
              </a:defRPr>
            </a:pPr>
            <a:r>
              <a:t>Code doesn't make Haiku taller.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onsolas"/>
              </a:defRPr>
            </a:pPr>
            <a:r>
              <a:t>It gives it a boost exactly where it needs one: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D57"/>
                </a:solidFill>
                <a:latin typeface="Consolas"/>
              </a:defRPr>
            </a:pPr>
            <a:r>
              <a:t>counting structural units in compressed notation.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B8B"/>
                </a:solidFill>
                <a:latin typeface="Consolas"/>
              </a:defRPr>
            </a:pPr>
            <a:r>
              <a:t>github.com/Ghost---Shadow/smiles-js-eval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8B8B8B"/>
                </a:solidFill>
                <a:latin typeface="Consolas"/>
              </a:defRPr>
            </a:pPr>
            <a:r>
              <a:t>data/haiku-probes.json  ·  docs/observations.md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